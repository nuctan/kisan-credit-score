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D4A017"/>
                </a:solidFill>
              </a:defRPr>
            </a:pPr>
            <a:r>
              <a:t>🌾 KisanAI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Autonomous Agricultural Credit Assessment &amp; Risk Scoring Platform</a:t>
            </a:r>
          </a:p>
          <a:p>
            <a:pPr>
              <a:defRPr sz="1600">
                <a:solidFill>
                  <a:srgbClr val="FFF8F0"/>
                </a:solidFill>
              </a:defRPr>
            </a:pPr>
            <a:r>
              <a:t>Ingesting Sentinel-2 Satellite Telemetry, Econometric Mandi Price Forecasting &amp; Multi-Year Succession Planning</a:t>
            </a:r>
          </a:p>
          <a:p>
            <a:br/>
            <a:pPr>
              <a:defRPr sz="1600" b="1">
                <a:solidFill>
                  <a:srgbClr val="D4A017"/>
                </a:solidFill>
              </a:defRPr>
            </a:pPr>
            <a:r>
              <a:t>Presented By: Tanishq Kanthed (Nuctan), Akshat Srivastava, Radhika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Problem Statement &amp; Agrarian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🐢 Slow &amp; Costly Inspections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Traditional bank field audits cost ₹5,000–₹10,000 per farm and take 3–4 weeks.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👁️ High Subjectivity &amp; Bias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Physical visual evaluations vary drastically depending on individual bank officers.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💸 Debt Traps &amp; Real-Estate Bias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Banks issue loans based on land real-estate value rather than biological crop yield.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📉 Static Mandi Price Flaw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Traditional underwriting uses static annual averages, ignoring harvest-month price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System Objectives &amp;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1. Interactive GIS Mapping: Leaflet + Esri satellite polygon field area calculation in Hectares.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2. Real-Time Remote Sensing: Sentinel-2 L2A optical band processing (B08 NIR, B04 Red) for NDVI.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3. Scikit-Learn Mandi Price ML: Ridge Regression forecasting harvest-month modal prices.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4. Weighted Composite Risk: Combining NDVI (45%), IMD Weather (35%), and Soil N-P-K (20%).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5. 60% DSCR Safe Credit Cap: Protecting farmers against over-indebtedness &amp; debt traps.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685800"/>
          </a:xfrm>
          <a:prstGeom prst="roundRect">
            <a:avLst/>
          </a:prstGeom>
          <a:solidFill>
            <a:srgbClr val="FFF8F0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D2C1E"/>
                </a:solidFill>
              </a:defRPr>
            </a:pPr>
            <a:r>
              <a:t>6. Multilingual Voice AI: Meta LLaMA 3.3 70B RAG Chatbot supporting 5 Indian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System Methodology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017"/>
                </a:solidFill>
              </a:defRPr>
            </a:pPr>
            <a:r>
              <a:t>🎨 Frontend Tier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React 18, Vite 6, TailwindCSS v4, Leaflet.js 1.9.4, Web Speech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017"/>
                </a:solidFill>
              </a:defRPr>
            </a:pPr>
            <a:r>
              <a:t>⚡ Backend Tier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Pure Python FastAPI (Uvicorn ASGI), PyMongo with in-memory dict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017"/>
                </a:solidFill>
              </a:defRPr>
            </a:pPr>
            <a:r>
              <a:t>🛰️ Satellite Telemetry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Sentinel Hub API v3 (Sentinel-2 L2A), 10m resolution, Cloud Masking SCL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017"/>
                </a:solidFill>
              </a:defRPr>
            </a:pPr>
            <a:r>
              <a:t>🤖 AI &amp; ML Engine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Meta LLaMA 3.3 70B (Groq LPU), Scikit-Learn Ridge Regression, RAG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GIS Mapping &amp; Satellite Remote Sensing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🗺️ Leaflet + Esri Imagery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100% free open-source mapping engine without expensive Google Maps API dependencies.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📐 Spherical Excess Area Formula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Calculates exact geodesic field area: Area = (R^2/4) * Σ (Δλ) * (2 + sin φ1 + sin φ2)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🛰️ Sentinel-2 L2A Optical Bands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Ingests 10m spatial resolution Band 8 (NIR) &amp; Band 4 (Red) with cloud masking SCL.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🌱 NDVI Vegetation Formula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NDVI = (Band 8 NIR - Band 4 Red) / (Band 8 NIR + Band 4 Red) [0.65+ = Healthy]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Credit Scoring Engine — 4-Step Mathematical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D6A4F"/>
                </a:solidFill>
              </a:defRPr>
            </a:pPr>
            <a:r>
              <a:t>Step 1: Base Revenue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Base Rev = Area (Ha) × Hist Yield (T/Ha) × 10 × ML Predicted Price (₹/Q)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515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D6A4F"/>
                </a:solidFill>
              </a:defRPr>
            </a:pPr>
            <a:r>
              <a:t>Step 2: Risk Adjustment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Adjusted Rev = Base Rev × [(NDVI × 0.45) + (Weather × 0.35) + (Soil × 0.20)]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D6A4F"/>
                </a:solidFill>
              </a:defRPr>
            </a:pPr>
            <a:r>
              <a:t>Step 3: Multi-Year Rotation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Calculates succession crop cycles (Wheat → Mung Bean → Rice) across loan tenure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D6A4F"/>
                </a:solidFill>
              </a:defRPr>
            </a:pPr>
            <a:r>
              <a:t>Step 4: 60% DSCR Safe Cap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Safe Loan Cap = Total Combined Tenure Income × 60% (Corporate DSCR Rule)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Econometric Mandi Price Forecasting (Scikit-Learn 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📈 Scikit-Learn Ridge Regression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Trains on historical Agmarknet Mandi dataset to model long-term price trajectory.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🗓️ Harvest-Month Modulus Math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t_harvest = (t_sow + duration) mod 12 — Evaluates prices exactly when crop is sold.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📊 Seasonal Indexing Multiplier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Applies monthly demand index (e.g., March Wheat Harvest Index = 1.05x multiplier).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8630A"/>
                </a:solidFill>
              </a:defRPr>
            </a:pPr>
            <a:r>
              <a:t>💡 Real Output Example</a:t>
            </a:r>
          </a:p>
          <a:p>
            <a:pPr>
              <a:defRPr sz="1400">
                <a:solidFill>
                  <a:srgbClr val="3D2C1E"/>
                </a:solidFill>
              </a:defRPr>
            </a:pPr>
            <a:r>
              <a:t>Sowing Wheat in Nov (Harvest in March): Base ₹2,949 → ML Trend ₹3,546 × 1.05 = ₹3,723.73 / Quintal.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Multilingual Voice AI Chatbot &amp; RAG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017"/>
                </a:solidFill>
              </a:defRPr>
            </a:pPr>
            <a:r>
              <a:t>🤖 Meta LLaMA 3.3 70B on Groq LPU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Executes sub-300ms ultra-fast inference (&gt;300 tokens/sec) on Groq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5156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017"/>
                </a:solidFill>
              </a:defRPr>
            </a:pPr>
            <a:r>
              <a:t>📜 RAG Government Schemes Store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Keyword search over 7 verified schemes (PM-KISAN, KCC, PMFBY, PM-KUSUM, etc.).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017"/>
                </a:solidFill>
              </a:defRPr>
            </a:pPr>
            <a:r>
              <a:t>🛡️ Zero Hallucination Prompting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System prompt injects farm profile, ML credit cap, and scheme facts to ground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017"/>
                </a:solidFill>
              </a:defRPr>
            </a:pPr>
            <a:r>
              <a:t>🎤 Web Speech Voice Integration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Browser-native voice input in 5 languages (Hindi, English, Marathi, Gujarati, Tamil).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KISANAI PROJECT PRESENTATION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Future Scope &amp;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🌐 Pan-India Dataset Scaling</a:t>
            </a:r>
          </a:p>
          <a:p>
            <a:pPr>
              <a:defRPr sz="1500">
                <a:solidFill>
                  <a:srgbClr val="3D2C1E"/>
                </a:solidFill>
              </a:defRPr>
            </a:pPr>
            <a:r>
              <a:t>Expanding crop yield datasets and MANDI historical records to all 28 Indian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728655" cy="12801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📡 Sentinel-1 SAR Radar Integration</a:t>
            </a:r>
          </a:p>
          <a:p>
            <a:pPr>
              <a:defRPr sz="1500">
                <a:solidFill>
                  <a:srgbClr val="3D2C1E"/>
                </a:solidFill>
              </a:defRPr>
            </a:pPr>
            <a:r>
              <a:t>Adding Synthetic Aperture Radar (SAR) to penetrate monsoon cloud cover.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10728655" cy="12801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86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630A"/>
                </a:solidFill>
              </a:defRPr>
            </a:pPr>
            <a:r>
              <a:t>🔗 Blockchain Credit Passport NFTs</a:t>
            </a:r>
          </a:p>
          <a:p>
            <a:pPr>
              <a:defRPr sz="1500">
                <a:solidFill>
                  <a:srgbClr val="3D2C1E"/>
                </a:solidFill>
              </a:defRPr>
            </a:pPr>
            <a:r>
              <a:t>Issuing immutable, satellite-verified credit certificates for bank API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A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017"/>
                </a:solidFill>
              </a:defRPr>
            </a:pPr>
            <a:r>
              <a:t>10. Conclusion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KisanAI automates agricultural credit risk evaluation in under 30 seconds, replacing costly manual field audits.</a:t>
            </a:r>
            <a:br/>
            <a:r>
              <a:t>• Combines Sentinel-2 remote sensing, Scikit-Learn price forecasting, and 60% DSCR safe credit caps to protect both banks and farmers.</a:t>
            </a:r>
            <a:br/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